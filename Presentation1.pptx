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11DDFBE-52AC-41CF-BF66-4E8F9BE9842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DB31F46-1084-48E9-8B93-F895743241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381000"/>
            <a:ext cx="762000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Living with AI: Our Smart Co-Pilot</a:t>
            </a:r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How Artificial Intelligence is Changing Our Daily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Life</a:t>
            </a:r>
          </a:p>
          <a:p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What is AI?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smtClean="0"/>
              <a:t>Software </a:t>
            </a:r>
            <a:r>
              <a:rPr lang="en-US" dirty="0"/>
              <a:t>and systems that allow machines to think, learn, reason, and make decisions like humans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The Reality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AI is no longer a concept hidden in science fiction movies. It is already an active part of our present reality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The Shift: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smtClean="0"/>
              <a:t>We </a:t>
            </a:r>
            <a:r>
              <a:rPr lang="en-US" dirty="0"/>
              <a:t>are moving from a world where we command computers, to a world where we collaborate with them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Visual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Suggestion</a:t>
            </a:r>
          </a:p>
          <a:p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A high-quality graphic showing a human hand interacting with a glowing digital network or holographic interface.</a:t>
            </a:r>
          </a:p>
        </p:txBody>
      </p:sp>
      <p:pic>
        <p:nvPicPr>
          <p:cNvPr id="5" name="mickeyscat-caress-609718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132" y="56388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9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6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lvl="4"/>
            <a:r>
              <a:rPr lang="en-US" sz="9600" b="1" dirty="0">
                <a:solidFill>
                  <a:schemeClr val="accent2">
                    <a:lumMod val="75000"/>
                  </a:schemeClr>
                </a:solidFill>
              </a:rPr>
              <a:t>Smart Tools We Use Every Single </a:t>
            </a:r>
            <a:r>
              <a:rPr lang="en-US" sz="9600" b="1" dirty="0" smtClean="0">
                <a:solidFill>
                  <a:schemeClr val="accent2">
                    <a:lumMod val="75000"/>
                  </a:schemeClr>
                </a:solidFill>
              </a:rPr>
              <a:t>Day</a:t>
            </a:r>
          </a:p>
          <a:p>
            <a:endParaRPr lang="en-US" sz="8000" b="1" dirty="0"/>
          </a:p>
          <a:p>
            <a:r>
              <a:rPr lang="en-US" sz="7200" b="1" dirty="0">
                <a:solidFill>
                  <a:schemeClr val="accent2">
                    <a:lumMod val="75000"/>
                  </a:schemeClr>
                </a:solidFill>
              </a:rPr>
              <a:t>Voice Assistants</a:t>
            </a:r>
            <a:r>
              <a:rPr lang="en-US" sz="7200" b="1" dirty="0"/>
              <a:t>:</a:t>
            </a:r>
            <a:r>
              <a:rPr lang="en-US" sz="7200" dirty="0"/>
              <a:t> Google Assistant, Apple </a:t>
            </a:r>
            <a:r>
              <a:rPr lang="en-US" sz="7200" dirty="0" err="1"/>
              <a:t>Siri</a:t>
            </a:r>
            <a:r>
              <a:rPr lang="en-US" sz="7200" dirty="0"/>
              <a:t>, and Amazon </a:t>
            </a:r>
            <a:r>
              <a:rPr lang="en-US" sz="7200" dirty="0" err="1"/>
              <a:t>Alexa</a:t>
            </a:r>
            <a:r>
              <a:rPr lang="en-US" sz="7200" dirty="0"/>
              <a:t> managing our smart homes and schedules</a:t>
            </a:r>
            <a:r>
              <a:rPr lang="en-US" sz="7200" dirty="0" smtClean="0"/>
              <a:t>.</a:t>
            </a:r>
          </a:p>
          <a:p>
            <a:endParaRPr lang="en-US" sz="7200" dirty="0" smtClean="0"/>
          </a:p>
          <a:p>
            <a:endParaRPr lang="en-US" sz="7200" dirty="0"/>
          </a:p>
          <a:p>
            <a:r>
              <a:rPr lang="en-US" sz="7200" b="1" dirty="0">
                <a:solidFill>
                  <a:schemeClr val="accent2">
                    <a:lumMod val="75000"/>
                  </a:schemeClr>
                </a:solidFill>
              </a:rPr>
              <a:t>Smart Navigation &amp; Entertainment</a:t>
            </a:r>
            <a:r>
              <a:rPr lang="en-US" sz="7200" b="1" dirty="0"/>
              <a:t>:</a:t>
            </a:r>
            <a:r>
              <a:rPr lang="en-US" sz="7200" dirty="0"/>
              <a:t> Google Maps calculating real-time traffic, and Netflix or YouTube predicting exactly what we want to watch next</a:t>
            </a:r>
            <a:r>
              <a:rPr lang="en-US" sz="7200" dirty="0" smtClean="0"/>
              <a:t>.</a:t>
            </a:r>
          </a:p>
          <a:p>
            <a:endParaRPr lang="en-US" sz="7200" dirty="0" smtClean="0"/>
          </a:p>
          <a:p>
            <a:endParaRPr lang="en-US" sz="7200" dirty="0"/>
          </a:p>
          <a:p>
            <a:r>
              <a:rPr lang="en-US" sz="7200" b="1" dirty="0">
                <a:solidFill>
                  <a:schemeClr val="accent2">
                    <a:lumMod val="75000"/>
                  </a:schemeClr>
                </a:solidFill>
              </a:rPr>
              <a:t>Communication &amp; Writing</a:t>
            </a:r>
            <a:r>
              <a:rPr lang="en-US" sz="7200" b="1" dirty="0"/>
              <a:t>:</a:t>
            </a:r>
            <a:r>
              <a:rPr lang="en-US" sz="7200" dirty="0"/>
              <a:t> Email smart replies, predictive text autocorrect, and conversational tools like </a:t>
            </a:r>
            <a:r>
              <a:rPr lang="en-US" sz="7200" dirty="0" err="1"/>
              <a:t>ChatGPT</a:t>
            </a:r>
            <a:r>
              <a:rPr lang="en-US" sz="7200" dirty="0"/>
              <a:t> answering queries instantly</a:t>
            </a:r>
            <a:r>
              <a:rPr lang="en-US" sz="7200" dirty="0" smtClean="0"/>
              <a:t>.</a:t>
            </a:r>
          </a:p>
          <a:p>
            <a:endParaRPr lang="en-US" sz="7200" dirty="0" smtClean="0"/>
          </a:p>
          <a:p>
            <a:endParaRPr lang="en-US" sz="7200" dirty="0"/>
          </a:p>
          <a:p>
            <a:r>
              <a:rPr lang="en-US" sz="7200" b="1" dirty="0">
                <a:solidFill>
                  <a:schemeClr val="accent2">
                    <a:lumMod val="75000"/>
                  </a:schemeClr>
                </a:solidFill>
              </a:rPr>
              <a:t>Visual Suggestion</a:t>
            </a:r>
            <a:r>
              <a:rPr lang="en-US" sz="7200" b="1" dirty="0"/>
              <a:t>:</a:t>
            </a:r>
            <a:r>
              <a:rPr lang="en-US" sz="7200" dirty="0"/>
              <a:t> A clean grid layout featuring recognizable app icons like Google Maps, </a:t>
            </a:r>
            <a:r>
              <a:rPr lang="en-US" sz="7200" dirty="0" err="1"/>
              <a:t>Spotify</a:t>
            </a:r>
            <a:r>
              <a:rPr lang="en-US" sz="7200" dirty="0"/>
              <a:t>, and </a:t>
            </a:r>
            <a:r>
              <a:rPr lang="en-US" sz="7200" dirty="0" err="1"/>
              <a:t>ChatGPT</a:t>
            </a:r>
            <a:r>
              <a:rPr lang="en-US" sz="7200" dirty="0"/>
              <a:t>.</a:t>
            </a:r>
          </a:p>
          <a:p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189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81000"/>
            <a:ext cx="8229600" cy="4525963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Transforming Learning and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Jobs</a:t>
            </a:r>
          </a:p>
          <a:p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Working Smarter, Not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Harder</a:t>
            </a:r>
          </a:p>
          <a:p>
            <a:endParaRPr lang="en-US" sz="1600" b="1" dirty="0"/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24/7 Personal Tutor</a:t>
            </a:r>
            <a:r>
              <a:rPr lang="en-US" sz="1600" b="1" dirty="0"/>
              <a:t>:</a:t>
            </a:r>
            <a:r>
              <a:rPr lang="en-US" sz="1600" dirty="0"/>
              <a:t> Students can use AI to break down complex topics, learn coding languages, and practice interview questions at their own pace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Automating Administrative Tasks</a:t>
            </a: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r>
              <a:rPr lang="en-US" sz="1600" dirty="0" smtClean="0"/>
              <a:t> </a:t>
            </a:r>
            <a:r>
              <a:rPr lang="en-US" sz="1600" dirty="0"/>
              <a:t>AI handles repetitive work like sorting data, formatting spreadsheets, and scheduling meetings, saving hours of manual labor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Boosting Human Creativity</a:t>
            </a:r>
            <a:r>
              <a:rPr lang="en-US" sz="1600" b="1" dirty="0" smtClean="0"/>
              <a:t>:</a:t>
            </a:r>
          </a:p>
          <a:p>
            <a:r>
              <a:rPr lang="en-US" sz="1600" dirty="0" smtClean="0"/>
              <a:t> </a:t>
            </a:r>
            <a:r>
              <a:rPr lang="en-US" sz="1600" dirty="0"/>
              <a:t>Creative professionals use AI tools to quickly generate mood boards, brainstorm marketing ideas, or overcome writer's block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Visual Suggestion</a:t>
            </a:r>
            <a:r>
              <a:rPr lang="en-US" sz="1600" b="1" dirty="0" smtClean="0"/>
              <a:t>:</a:t>
            </a:r>
          </a:p>
          <a:p>
            <a:r>
              <a:rPr lang="en-US" sz="1600" dirty="0" smtClean="0"/>
              <a:t> </a:t>
            </a:r>
            <a:r>
              <a:rPr lang="en-US" sz="1600" dirty="0"/>
              <a:t>A split visual showing a student studying with an interactive tablet on one side, and a professional analyzing a clean data dashboard on the other.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769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3810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 dirty="0">
                <a:solidFill>
                  <a:schemeClr val="accent2">
                    <a:lumMod val="75000"/>
                  </a:schemeClr>
                </a:solidFill>
              </a:rPr>
              <a:t>The Other Side of </a:t>
            </a:r>
            <a:r>
              <a:rPr lang="en-US" sz="2900" b="1" dirty="0" smtClean="0">
                <a:solidFill>
                  <a:schemeClr val="accent2">
                    <a:lumMod val="75000"/>
                  </a:schemeClr>
                </a:solidFill>
              </a:rPr>
              <a:t>AI</a:t>
            </a:r>
          </a:p>
          <a:p>
            <a:endParaRPr lang="en-US" sz="29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900" b="1" dirty="0">
                <a:solidFill>
                  <a:schemeClr val="accent2">
                    <a:lumMod val="75000"/>
                  </a:schemeClr>
                </a:solidFill>
              </a:rPr>
              <a:t>Crucial Challenges We Must </a:t>
            </a:r>
            <a:r>
              <a:rPr lang="en-US" sz="2900" b="1" dirty="0" smtClean="0">
                <a:solidFill>
                  <a:schemeClr val="accent2">
                    <a:lumMod val="75000"/>
                  </a:schemeClr>
                </a:solidFill>
              </a:rPr>
              <a:t>Face</a:t>
            </a:r>
          </a:p>
          <a:p>
            <a:endParaRPr lang="en-US" sz="2600" b="1" dirty="0"/>
          </a:p>
          <a:p>
            <a:r>
              <a:rPr lang="en-US" sz="2900" b="1" dirty="0">
                <a:solidFill>
                  <a:schemeClr val="accent2">
                    <a:lumMod val="75000"/>
                  </a:schemeClr>
                </a:solidFill>
              </a:rPr>
              <a:t>The Job Evolution</a:t>
            </a:r>
            <a:r>
              <a:rPr lang="en-US" sz="2900" b="1" dirty="0"/>
              <a:t>:</a:t>
            </a:r>
            <a:r>
              <a:rPr lang="en-US" sz="2900" dirty="0"/>
              <a:t> AI will not replace humans entirely. However, humans who know how to use AI will inevitably replace those who do not</a:t>
            </a:r>
            <a:r>
              <a:rPr lang="en-US" sz="2900" dirty="0" smtClean="0"/>
              <a:t>.</a:t>
            </a:r>
          </a:p>
          <a:p>
            <a:endParaRPr lang="en-US" sz="2900" dirty="0"/>
          </a:p>
          <a:p>
            <a:r>
              <a:rPr lang="en-US" sz="2900" b="1" dirty="0">
                <a:solidFill>
                  <a:schemeClr val="accent2">
                    <a:lumMod val="75000"/>
                  </a:schemeClr>
                </a:solidFill>
              </a:rPr>
              <a:t>Misinformation &amp; </a:t>
            </a:r>
            <a:r>
              <a:rPr lang="en-US" sz="2900" b="1" dirty="0" err="1">
                <a:solidFill>
                  <a:schemeClr val="accent2">
                    <a:lumMod val="75000"/>
                  </a:schemeClr>
                </a:solidFill>
              </a:rPr>
              <a:t>Deepfakes</a:t>
            </a:r>
            <a:r>
              <a:rPr lang="en-US" sz="2900" b="1" dirty="0"/>
              <a:t>:</a:t>
            </a:r>
            <a:r>
              <a:rPr lang="en-US" sz="2900" dirty="0"/>
              <a:t> The growing risk of hyper-realistic fake images, videos, and fabricated news stories passing off as real online</a:t>
            </a:r>
            <a:r>
              <a:rPr lang="en-US" sz="2900" dirty="0" smtClean="0"/>
              <a:t>.</a:t>
            </a:r>
          </a:p>
          <a:p>
            <a:endParaRPr lang="en-US" sz="2900" dirty="0"/>
          </a:p>
          <a:p>
            <a:r>
              <a:rPr lang="en-US" sz="2900" b="1" dirty="0">
                <a:solidFill>
                  <a:schemeClr val="accent2">
                    <a:lumMod val="75000"/>
                  </a:schemeClr>
                </a:solidFill>
              </a:rPr>
              <a:t>Loss of Critical Thinking</a:t>
            </a:r>
            <a:r>
              <a:rPr lang="en-US" sz="2900" b="1" dirty="0"/>
              <a:t>:</a:t>
            </a:r>
            <a:r>
              <a:rPr lang="en-US" sz="2900" dirty="0"/>
              <a:t> Over-relying on automated tools can slowly degrade our personal problem-solving skills and attention spans</a:t>
            </a:r>
            <a:r>
              <a:rPr lang="en-US" sz="2900" dirty="0" smtClean="0"/>
              <a:t>.</a:t>
            </a:r>
          </a:p>
          <a:p>
            <a:endParaRPr lang="en-US" sz="2900" dirty="0"/>
          </a:p>
          <a:p>
            <a:r>
              <a:rPr lang="en-US" sz="2900" b="1" dirty="0">
                <a:solidFill>
                  <a:schemeClr val="accent2">
                    <a:lumMod val="75000"/>
                  </a:schemeClr>
                </a:solidFill>
              </a:rPr>
              <a:t>Visual Suggestion</a:t>
            </a:r>
            <a:r>
              <a:rPr lang="en-US" sz="2900" b="1" dirty="0"/>
              <a:t>:</a:t>
            </a:r>
            <a:r>
              <a:rPr lang="en-US" sz="2900" dirty="0"/>
              <a:t> A minimalist two-column layout highlighting "Digital Literacy" on one side and "Data Privacy" on the </a:t>
            </a:r>
            <a:r>
              <a:rPr lang="en-US" sz="2900" dirty="0" smtClean="0"/>
              <a:t>other.</a:t>
            </a:r>
            <a:endParaRPr lang="en-US" sz="2900" dirty="0"/>
          </a:p>
          <a:p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163903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4800" y="152400"/>
            <a:ext cx="8261350" cy="1039812"/>
          </a:xfrm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conclusion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954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Embracing the Future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Safely</a:t>
            </a:r>
          </a:p>
          <a:p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Mastering the Machine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Balance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Treat AI as a Co-Pilot</a:t>
            </a:r>
            <a:r>
              <a:rPr lang="en-US" b="1" dirty="0"/>
              <a:t>:</a:t>
            </a:r>
            <a:r>
              <a:rPr lang="en-US" dirty="0"/>
              <a:t> Let the algorithms handle heavy data processing and drafting, but always keep human empathy and final judgment in complete control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Stay Adaptable</a:t>
            </a:r>
            <a:r>
              <a:rPr lang="en-US" b="1" dirty="0"/>
              <a:t>:</a:t>
            </a:r>
            <a:r>
              <a:rPr lang="en-US" dirty="0"/>
              <a:t> Focus on continuous learning and master the art of writing precise prompts to get the best out of modern tools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Final Thought</a:t>
            </a:r>
            <a:r>
              <a:rPr lang="en-US" b="1" dirty="0"/>
              <a:t>:</a:t>
            </a:r>
            <a:r>
              <a:rPr lang="en-US" dirty="0"/>
              <a:t> AI is an incredibly powerful tool. In the end, its value depends entirely on the intention and intelligence of the human directing it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Visual Suggestion</a:t>
            </a:r>
            <a:r>
              <a:rPr lang="en-US" b="1" dirty="0"/>
              <a:t>:</a:t>
            </a:r>
            <a:r>
              <a:rPr lang="en-US" dirty="0"/>
              <a:t> An inspiring closing graphic of a glowing </a:t>
            </a:r>
            <a:r>
              <a:rPr lang="en-US" dirty="0" err="1"/>
              <a:t>lightbulb</a:t>
            </a:r>
            <a:r>
              <a:rPr lang="en-US" dirty="0"/>
              <a:t> combined with a digital circuit grid.</a:t>
            </a:r>
          </a:p>
        </p:txBody>
      </p:sp>
    </p:spTree>
    <p:extLst>
      <p:ext uri="{BB962C8B-B14F-4D97-AF65-F5344CB8AC3E}">
        <p14:creationId xmlns:p14="http://schemas.microsoft.com/office/powerpoint/2010/main" val="287517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61</TotalTime>
  <Words>531</Words>
  <Application>Microsoft Office PowerPoint</Application>
  <PresentationFormat>On-screen Show (4:3)</PresentationFormat>
  <Paragraphs>63</Paragraphs>
  <Slides>5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Concourse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2026-09-29T06:25:52Z</dcterms:created>
  <dcterms:modified xsi:type="dcterms:W3CDTF">2026-09-29T07:27:01Z</dcterms:modified>
</cp:coreProperties>
</file>